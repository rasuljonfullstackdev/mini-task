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8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45"/>
  </p:normalViewPr>
  <p:slideViewPr>
    <p:cSldViewPr snapToGrid="0" snapToObjects="1">
      <p:cViewPr varScale="1">
        <p:scale>
          <a:sx n="118" d="100"/>
          <a:sy n="118" d="100"/>
        </p:scale>
        <p:origin x="552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654" y="1447800"/>
            <a:ext cx="8823360" cy="3329581"/>
          </a:xfrm>
        </p:spPr>
        <p:txBody>
          <a:bodyPr anchor="b"/>
          <a:lstStyle>
            <a:lvl1pPr>
              <a:defRPr sz="71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654" y="4777380"/>
            <a:ext cx="8823360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1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25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3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5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3231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0805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656" y="2861734"/>
            <a:ext cx="8823359" cy="1915647"/>
          </a:xfrm>
        </p:spPr>
        <p:txBody>
          <a:bodyPr anchor="b"/>
          <a:lstStyle>
            <a:lvl1pPr algn="l">
              <a:defRPr sz="3999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654" y="4777381"/>
            <a:ext cx="8823360" cy="860400"/>
          </a:xfrm>
        </p:spPr>
        <p:txBody>
          <a:bodyPr anchor="t"/>
          <a:lstStyle>
            <a:lvl1pPr marL="0" indent="0" algn="l">
              <a:buNone/>
              <a:defRPr sz="1999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137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025" y="2060576"/>
            <a:ext cx="4395194" cy="4195763"/>
          </a:xfrm>
        </p:spPr>
        <p:txBody>
          <a:bodyPr>
            <a:normAutofit/>
          </a:bodyPr>
          <a:lstStyle>
            <a:lvl1pPr>
              <a:defRPr sz="1799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3021" y="2056092"/>
            <a:ext cx="4395196" cy="4200245"/>
          </a:xfrm>
        </p:spPr>
        <p:txBody>
          <a:bodyPr>
            <a:normAutofit/>
          </a:bodyPr>
          <a:lstStyle>
            <a:lvl1pPr>
              <a:defRPr sz="1799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133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026" y="1905000"/>
            <a:ext cx="4395193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025" y="2514600"/>
            <a:ext cx="4395194" cy="3741738"/>
          </a:xfrm>
        </p:spPr>
        <p:txBody>
          <a:bodyPr>
            <a:normAutofit/>
          </a:bodyPr>
          <a:lstStyle>
            <a:lvl1pPr>
              <a:defRPr sz="1799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3023" y="1905000"/>
            <a:ext cx="4395194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3023" y="2514600"/>
            <a:ext cx="4395194" cy="3741738"/>
          </a:xfrm>
        </p:spPr>
        <p:txBody>
          <a:bodyPr>
            <a:normAutofit/>
          </a:bodyPr>
          <a:lstStyle>
            <a:lvl1pPr>
              <a:defRPr sz="1799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862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532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5602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652" y="1447800"/>
            <a:ext cx="3400178" cy="1447800"/>
          </a:xfrm>
        </p:spPr>
        <p:txBody>
          <a:bodyPr anchor="b"/>
          <a:lstStyle>
            <a:lvl1pPr algn="l">
              <a:defRPr sz="2399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3370" y="1447800"/>
            <a:ext cx="5194644" cy="4572000"/>
          </a:xfrm>
        </p:spPr>
        <p:txBody>
          <a:bodyPr anchor="ctr">
            <a:normAutofit/>
          </a:bodyPr>
          <a:lstStyle>
            <a:lvl1pPr>
              <a:defRPr sz="1999"/>
            </a:lvl1pPr>
            <a:lvl2pPr>
              <a:defRPr sz="1799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653" y="3129281"/>
            <a:ext cx="3400177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725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606" y="1854192"/>
            <a:ext cx="5091580" cy="1574808"/>
          </a:xfrm>
        </p:spPr>
        <p:txBody>
          <a:bodyPr anchor="b">
            <a:normAutofit/>
          </a:bodyPr>
          <a:lstStyle>
            <a:lvl1pPr algn="l">
              <a:defRPr sz="3599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7736" y="1143000"/>
            <a:ext cx="3199567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654" y="3657600"/>
            <a:ext cx="5083655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89281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656" y="4800587"/>
            <a:ext cx="8823359" cy="566738"/>
          </a:xfrm>
        </p:spPr>
        <p:txBody>
          <a:bodyPr anchor="b">
            <a:normAutofit/>
          </a:bodyPr>
          <a:lstStyle>
            <a:lvl1pPr algn="l">
              <a:defRPr sz="2399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654" y="685800"/>
            <a:ext cx="8823360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655" y="5367325"/>
            <a:ext cx="882335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9993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654" y="1447800"/>
            <a:ext cx="8823361" cy="1981200"/>
          </a:xfrm>
        </p:spPr>
        <p:txBody>
          <a:bodyPr/>
          <a:lstStyle>
            <a:lvl1pPr>
              <a:defRPr sz="47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654" y="3657600"/>
            <a:ext cx="8823361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799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40856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391" y="1447800"/>
            <a:ext cx="7997232" cy="2323374"/>
          </a:xfrm>
        </p:spPr>
        <p:txBody>
          <a:bodyPr/>
          <a:lstStyle>
            <a:lvl1pPr>
              <a:defRPr sz="47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29898" y="3771174"/>
            <a:ext cx="7277753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654" y="4350657"/>
            <a:ext cx="8823361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799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061" y="971253"/>
            <a:ext cx="801703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196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8060" y="2613787"/>
            <a:ext cx="801703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196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323797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653" y="3124201"/>
            <a:ext cx="8823362" cy="1653180"/>
          </a:xfrm>
        </p:spPr>
        <p:txBody>
          <a:bodyPr anchor="b"/>
          <a:lstStyle>
            <a:lvl1pPr algn="l">
              <a:defRPr sz="3999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654" y="4777381"/>
            <a:ext cx="8823361" cy="860400"/>
          </a:xfrm>
        </p:spPr>
        <p:txBody>
          <a:bodyPr anchor="t"/>
          <a:lstStyle>
            <a:lvl1pPr marL="0" indent="0" algn="l">
              <a:buNone/>
              <a:defRPr sz="1999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9543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782" y="1981200"/>
            <a:ext cx="2946099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293" y="2667000"/>
            <a:ext cx="292658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2648" y="1981200"/>
            <a:ext cx="2935476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2097" y="2667000"/>
            <a:ext cx="2946027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2845" y="1981200"/>
            <a:ext cx="2931349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2845" y="2667000"/>
            <a:ext cx="2931349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517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0414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54308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293" y="4250949"/>
            <a:ext cx="2939284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293" y="2209800"/>
            <a:ext cx="2939284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293" y="4827212"/>
            <a:ext cx="2939284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8363" y="4250949"/>
            <a:ext cx="2929762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8362" y="2209800"/>
            <a:ext cx="292976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7009" y="4827211"/>
            <a:ext cx="293364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2845" y="4250949"/>
            <a:ext cx="2931349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2844" y="2209800"/>
            <a:ext cx="2931349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2720" y="4827209"/>
            <a:ext cx="293523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517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0414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08056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849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2050" y="430213"/>
            <a:ext cx="1752145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294" y="887414"/>
            <a:ext cx="7421216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161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6"/>
            <a:ext cx="4035961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8"/>
            <a:ext cx="1522016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6770" y="1676400"/>
            <a:ext cx="2818666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7330" y="0"/>
            <a:ext cx="1602969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3637" y="6096000"/>
            <a:ext cx="993475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5094" y="0"/>
            <a:ext cx="685621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5943" y="452718"/>
            <a:ext cx="9402274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025" y="2052919"/>
            <a:ext cx="894421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2866" y="1790741"/>
            <a:ext cx="990599" cy="304720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48740" y="3225337"/>
            <a:ext cx="3859795" cy="30472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49844" y="295730"/>
            <a:ext cx="837981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799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46698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87" r:id="rId1"/>
    <p:sldLayoutId id="2147483888" r:id="rId2"/>
    <p:sldLayoutId id="2147483889" r:id="rId3"/>
    <p:sldLayoutId id="2147483890" r:id="rId4"/>
    <p:sldLayoutId id="2147483891" r:id="rId5"/>
    <p:sldLayoutId id="2147483892" r:id="rId6"/>
    <p:sldLayoutId id="2147483893" r:id="rId7"/>
    <p:sldLayoutId id="2147483894" r:id="rId8"/>
    <p:sldLayoutId id="2147483895" r:id="rId9"/>
    <p:sldLayoutId id="2147483896" r:id="rId10"/>
    <p:sldLayoutId id="2147483897" r:id="rId11"/>
    <p:sldLayoutId id="2147483898" r:id="rId12"/>
    <p:sldLayoutId id="2147483899" r:id="rId13"/>
    <p:sldLayoutId id="2147483900" r:id="rId14"/>
    <p:sldLayoutId id="2147483901" r:id="rId15"/>
    <p:sldLayoutId id="2147483902" r:id="rId16"/>
    <p:sldLayoutId id="2147483903" r:id="rId17"/>
  </p:sldLayoutIdLst>
  <p:txStyles>
    <p:titleStyle>
      <a:lvl1pPr algn="l" defTabSz="457063" rtl="0" eaLnBrk="1" latinLnBrk="0" hangingPunct="1">
        <a:spcBef>
          <a:spcPct val="0"/>
        </a:spcBef>
        <a:buNone/>
        <a:defRPr sz="4199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797" indent="-342797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999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727" indent="-285664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799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2657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599720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6783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5248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0908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7971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5034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657600" y="822960"/>
            <a:ext cx="4846320" cy="384048"/>
          </a:xfrm>
          <a:prstGeom prst="rect">
            <a:avLst/>
          </a:prstGeom>
          <a:solidFill>
            <a:srgbClr val="3B82F6"/>
          </a:solidFill>
          <a:ln w="9525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0" y="84124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1F5F9"/>
                </a:solidFill>
              </a:rPr>
              <a:t>LARAVEL · BLADE · SQLITE · BCMATH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1" i="0">
                <a:solidFill>
                  <a:srgbClr val="60A5FA"/>
                </a:solidFill>
              </a:rPr>
              <a:t>Yetkazib berish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1" i="0">
                <a:solidFill>
                  <a:srgbClr val="A78BFA"/>
                </a:solidFill>
              </a:rPr>
              <a:t>Shartnomasi Tizimi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204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</a:rPr>
              <a:t>Davlat tashkiloti uchun tovar sotib olish · yetkazish · jarima · buxgalteriya boshqaruvi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4251960"/>
            <a:ext cx="1463040" cy="3657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4279392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94A3B8"/>
                </a:solidFill>
              </a:rPr>
              <a:t>PHP 8.3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03120" y="4251960"/>
            <a:ext cx="1463040" cy="3657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103120" y="4279392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94A3B8"/>
                </a:solidFill>
              </a:rPr>
              <a:t>Laravel 13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4251960"/>
            <a:ext cx="1463040" cy="3657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03320" y="4279392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94A3B8"/>
                </a:solidFill>
              </a:rPr>
              <a:t>SQLite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0" y="4251960"/>
            <a:ext cx="1463040" cy="3657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03520" y="4279392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94A3B8"/>
                </a:solidFill>
              </a:rPr>
              <a:t>Tailwind CSS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03720" y="4251960"/>
            <a:ext cx="1463040" cy="3657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03720" y="4279392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94A3B8"/>
                </a:solidFill>
              </a:rPr>
              <a:t>Alpine.js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0" y="4251960"/>
            <a:ext cx="1463040" cy="3657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03920" y="4279392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94A3B8"/>
                </a:solidFill>
              </a:rPr>
              <a:t>PHPUnit 12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04120" y="4251960"/>
            <a:ext cx="1463040" cy="3657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104120" y="4279392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94A3B8"/>
                </a:solidFill>
              </a:rPr>
              <a:t>bcmath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B82F6"/>
                </a:solidFill>
              </a:rPr>
              <a:t>VAZIYAT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1F5F9"/>
                </a:solidFill>
              </a:rPr>
              <a:t>Nima qilindi?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0"/>
            <a:ext cx="3749039" cy="5166360"/>
          </a:xfrm>
          <a:prstGeom prst="rect">
            <a:avLst/>
          </a:prstGeom>
          <a:solidFill>
            <a:srgbClr val="1E293B"/>
          </a:solidFill>
          <a:ln w="9525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F1F5F9"/>
                </a:solidFill>
              </a:rPr>
              <a:t>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1F5F9"/>
                </a:solidFill>
              </a:rPr>
              <a:t>Shartnoma yuritish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788920"/>
            <a:ext cx="3383280" cy="914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94A3B8"/>
                </a:solidFill>
              </a:rPr>
              <a:t>Qoralama → Faol → Yakunlangan
Pullik va bonus tovar alohida
Faollashtirish tizimi
Politika: server-side ruxsatlar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371600"/>
            <a:ext cx="3749039" cy="5166360"/>
          </a:xfrm>
          <a:prstGeom prst="rect">
            <a:avLst/>
          </a:prstGeom>
          <a:solidFill>
            <a:srgbClr val="1E293B"/>
          </a:solidFill>
          <a:ln w="952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26280" y="155448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F1F5F9"/>
                </a:solidFill>
              </a:rPr>
              <a:t>⚠️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2402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1F5F9"/>
                </a:solidFill>
              </a:rPr>
              <a:t>Jarima hisoblash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26280" y="2788920"/>
            <a:ext cx="3383280" cy="914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2926080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94A3B8"/>
                </a:solidFill>
              </a:rPr>
              <a:t>Kechikish uchun 0.5%/kun
50% limit qoidasi
bcmath — float ishlatilmadi
Boshliq tasdiqlaydi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1371600"/>
            <a:ext cx="3749039" cy="5166360"/>
          </a:xfrm>
          <a:prstGeom prst="rect">
            <a:avLst/>
          </a:prstGeom>
          <a:solidFill>
            <a:srgbClr val="1E293B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03919" y="155448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F1F5F9"/>
                </a:solidFill>
              </a:rPr>
              <a:t>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19" y="22402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1F5F9"/>
                </a:solidFill>
              </a:rPr>
              <a:t>Buxgalteriya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19" y="2788920"/>
            <a:ext cx="3383280" cy="914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03919" y="2926080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94A3B8"/>
                </a:solidFill>
              </a:rPr>
              <a:t>To'lov bosqichlari (30%+70%)
Smeta (byudjet) nazorati
Void pattern — reestr o'zgarmaydi
lockForUpdate() concurrent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B82F6"/>
                </a:solidFill>
              </a:rPr>
              <a:t>SHARTNOMA JARAYONI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1F5F9"/>
                </a:solidFill>
              </a:rPr>
              <a:t>Holat ketma-ketligi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17320"/>
            <a:ext cx="3657600" cy="1508760"/>
          </a:xfrm>
          <a:prstGeom prst="rect">
            <a:avLst/>
          </a:prstGeom>
          <a:solidFill>
            <a:srgbClr val="1E293B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75569"/>
                </a:solidFill>
              </a:rPr>
              <a:t>#1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013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1F5F9"/>
                </a:solidFill>
              </a:rPr>
              <a:t>📝 Qoralama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267712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Tahrir mumkin
Qatorlar o'zgaradi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187451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475569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417320"/>
            <a:ext cx="3657600" cy="1508760"/>
          </a:xfrm>
          <a:prstGeom prst="rect">
            <a:avLst/>
          </a:prstGeom>
          <a:solidFill>
            <a:srgbClr val="1E293B"/>
          </a:solidFill>
          <a:ln w="9525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34840" y="15087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75569"/>
                </a:solidFill>
              </a:rPr>
              <a:t>#2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18013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1F5F9"/>
                </a:solidFill>
              </a:rPr>
              <a:t>✅ Faol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67712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Qatorlar qotib qoladi
To'lov bosqichlari yaratiladi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187451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475569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417320"/>
            <a:ext cx="3657600" cy="1508760"/>
          </a:xfrm>
          <a:prstGeom prst="rect">
            <a:avLst/>
          </a:prstGeom>
          <a:solidFill>
            <a:srgbClr val="1E293B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15087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75569"/>
                </a:solidFill>
              </a:rPr>
              <a:t>#3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18013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1F5F9"/>
                </a:solidFill>
              </a:rPr>
              <a:t>🏁 Yakunlangan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267712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Barcha pullik tovar
yetkazilganda AVTOMATIK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154680"/>
            <a:ext cx="5760720" cy="34290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333756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1F5F9"/>
                </a:solidFill>
              </a:rPr>
              <a:t>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3375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1F5F9"/>
                </a:solidFill>
              </a:rPr>
              <a:t>Faollashtirish qoidasi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931920"/>
            <a:ext cx="53035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94A3B8"/>
                </a:solidFill>
              </a:rPr>
              <a:t>Kamida 1 tovar qatori shart.
Faollashtirilgandan keyin qatorlar
o'zgartirib bo'lmaydi.
Policy bilan serverda tekshiriladi.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3154680"/>
            <a:ext cx="5760720" cy="34290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29400" y="333756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1F5F9"/>
                </a:solidFill>
              </a:rPr>
              <a:t>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33375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1F5F9"/>
                </a:solidFill>
              </a:rPr>
              <a:t>Avtomatik yakunlash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931920"/>
            <a:ext cx="53035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94A3B8"/>
                </a:solidFill>
              </a:rPr>
              <a:t>Barcha pullik tovar yetkazilganda
shartnoma o'zi Yakunlangan holatiga
o'tadi. Buxgalteriyada shart
o'z-o'zidan bajariladi.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B82F6"/>
                </a:solidFill>
              </a:rPr>
              <a:t>JARIMA MODULI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1F5F9"/>
                </a:solidFill>
              </a:rPr>
              <a:t>Hisoblash formulasi va qoidalar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17320"/>
            <a:ext cx="5577840" cy="1280160"/>
          </a:xfrm>
          <a:prstGeom prst="rect">
            <a:avLst/>
          </a:prstGeom>
          <a:solidFill>
            <a:srgbClr val="0F172A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490472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</a:rPr>
              <a:t>HAR KUN UCHUN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1F5F9"/>
                </a:solidFill>
              </a:rPr>
              <a:t>jarima  =  kelmagan_summa  ×  0.5%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417320"/>
            <a:ext cx="5577840" cy="1280160"/>
          </a:xfrm>
          <a:prstGeom prst="rect">
            <a:avLst/>
          </a:prstGeom>
          <a:solidFill>
            <a:srgbClr val="0F172A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0" y="1490472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</a:rPr>
              <a:t>LIMIT (HECH QACHON OSHMASIN)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1F5F9"/>
                </a:solidFill>
              </a:rPr>
              <a:t>max  =  muddat_kuni_kelmagan  ×  50%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926080"/>
            <a:ext cx="2834640" cy="3703320"/>
          </a:xfrm>
          <a:prstGeom prst="rect">
            <a:avLst/>
          </a:prstGeom>
          <a:solidFill>
            <a:srgbClr val="1E293B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3090672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Misol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6616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3 kun,
hech narsa kelmagan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754880"/>
            <a:ext cx="2468880" cy="914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4892040"/>
            <a:ext cx="2468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59E0B"/>
                </a:solidFill>
              </a:rPr>
              <a:t>37.50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2926080"/>
            <a:ext cx="2834640" cy="3703320"/>
          </a:xfrm>
          <a:prstGeom prst="rect">
            <a:avLst/>
          </a:prstGeom>
          <a:solidFill>
            <a:srgbClr val="1E293B"/>
          </a:solidFill>
          <a:ln w="9525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20440" y="3090672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</a:rPr>
              <a:t>Misol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56616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600 dona 14-martda,
bugun 16-mart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20440" y="4754880"/>
            <a:ext cx="2468880" cy="914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20440" y="4892040"/>
            <a:ext cx="2468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3B82F6"/>
                </a:solidFill>
              </a:rPr>
              <a:t>35.00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2926080"/>
            <a:ext cx="2834640" cy="3703320"/>
          </a:xfrm>
          <a:prstGeom prst="rect">
            <a:avLst/>
          </a:prstGeom>
          <a:solidFill>
            <a:srgbClr val="1E293B"/>
          </a:solidFill>
          <a:ln w="952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92240" y="3090672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78BFA"/>
                </a:solidFill>
              </a:rPr>
              <a:t>Muhim qoida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56616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Yetkazish sanasi X bo'lsa
X+1 kundan hisobga olinadi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4754880"/>
            <a:ext cx="2468880" cy="914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92240" y="4892040"/>
            <a:ext cx="2468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A78BFA"/>
                </a:solidFill>
              </a:rPr>
              <a:t>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81160" y="2926080"/>
            <a:ext cx="2834640" cy="3703320"/>
          </a:xfrm>
          <a:prstGeom prst="rect">
            <a:avLst/>
          </a:prstGeom>
          <a:solidFill>
            <a:srgbClr val="1E293B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464040" y="3090672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Limit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356616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2500 × 50% = 1250
Hech qachon oshmasin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64040" y="4754880"/>
            <a:ext cx="2468880" cy="914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464040" y="4892040"/>
            <a:ext cx="2468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22C55E"/>
                </a:solidFill>
              </a:rPr>
              <a:t>1250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B82F6"/>
                </a:solidFill>
              </a:rPr>
              <a:t>BUXGALTERIYA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1F5F9"/>
                </a:solidFill>
              </a:rPr>
              <a:t>To'lov bosqichlari va smeta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63040"/>
            <a:ext cx="1965960" cy="38404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490472"/>
            <a:ext cx="1874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</a:rPr>
              <a:t>Bosqich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1463040"/>
            <a:ext cx="777240" cy="38404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468880" y="1490472"/>
            <a:ext cx="685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</a:rPr>
              <a:t>Foiz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463040"/>
            <a:ext cx="1234439" cy="38404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1490472"/>
            <a:ext cx="1143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</a:rPr>
              <a:t>Summa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463040"/>
            <a:ext cx="3520440" cy="38404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0" y="1490472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</a:rPr>
              <a:t>Shart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2240280" cy="38404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38160" y="1490472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</a:rPr>
              <a:t>Holat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920240"/>
            <a:ext cx="1965960" cy="4572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1975104"/>
            <a:ext cx="1874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</a:rPr>
              <a:t>Avans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1920240"/>
            <a:ext cx="777240" cy="4572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468880" y="197510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</a:rPr>
              <a:t>30%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920240"/>
            <a:ext cx="1234439" cy="4572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91840" y="1975104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</a:rPr>
              <a:t>750.00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0560" y="1920240"/>
            <a:ext cx="3520440" cy="4572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0" y="1975104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</a:rPr>
              <a:t>Shartnoma faollashgandan keyin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20" y="1920240"/>
            <a:ext cx="2240280" cy="4572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38160" y="1975104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9E0B"/>
                </a:solidFill>
              </a:rPr>
              <a:t>🟡 Rejalashtirilgan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423160"/>
            <a:ext cx="1965960" cy="4572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2478024"/>
            <a:ext cx="1874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</a:rPr>
              <a:t>Yetkazib berish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77440" y="2423160"/>
            <a:ext cx="777240" cy="4572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468880" y="247802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</a:rPr>
              <a:t>70%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0" y="2423160"/>
            <a:ext cx="1234439" cy="4572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291840" y="2478024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</a:rPr>
              <a:t>1 750.00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60" y="2423160"/>
            <a:ext cx="3520440" cy="4572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0" y="2478024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</a:rPr>
              <a:t>Pullik tovar to'liq kelgandan keyin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20" y="2423160"/>
            <a:ext cx="2240280" cy="4572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138160" y="2478024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</a:rPr>
              <a:t>🟢 To'lashga tayyor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063240"/>
            <a:ext cx="3749039" cy="34747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8640" y="324612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1F5F9"/>
                </a:solidFill>
              </a:rPr>
              <a:t>📊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388620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1F5F9"/>
                </a:solidFill>
              </a:rPr>
              <a:t>Holat qo'lda o'zgartirilmaydi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462272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Holat har safar to'lov
reestridan qayta hisoblanadi.
Hech qachon qo'lda o'zgarmaydi.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43400" y="3063240"/>
            <a:ext cx="3749039" cy="34747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26280" y="324612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1F5F9"/>
                </a:solidFill>
              </a:rPr>
              <a:t>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26280" y="388620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1F5F9"/>
                </a:solidFill>
              </a:rPr>
              <a:t>5 tartibli tekshiruv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6280" y="4462272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Birinchi xatoda to'xtaydi.
Aniq o'zbek tilida xabar beradi.
PaymentService klassida alohida.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21040" y="3063240"/>
            <a:ext cx="3749039" cy="34747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503919" y="324612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1F5F9"/>
                </a:solidFill>
              </a:rPr>
              <a:t>🚫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03919" y="388620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1F5F9"/>
                </a:solidFill>
              </a:rPr>
              <a:t>Void pattern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03919" y="4462272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To'lov hech qachon o'chirilmaydi.
is_voided=true + void_reason.
Audit izi saqlanadi.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B82F6"/>
                </a:solidFill>
              </a:rPr>
              <a:t>PAYMENTSERVICE — BIZNES MANTIQ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1F5F9"/>
                </a:solidFill>
              </a:rPr>
              <a:t>5 tartibli tekshiruv (birinchi xatoda to'xtaydi)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17320"/>
            <a:ext cx="11430000" cy="896112"/>
          </a:xfrm>
          <a:prstGeom prst="rect">
            <a:avLst/>
          </a:prstGeom>
          <a:solidFill>
            <a:srgbClr val="1E293B"/>
          </a:solidFill>
          <a:ln w="9525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545336"/>
            <a:ext cx="594360" cy="594360"/>
          </a:xfrm>
          <a:prstGeom prst="rect">
            <a:avLst/>
          </a:prstGeom>
          <a:solidFill>
            <a:srgbClr val="3B82F6"/>
          </a:solidFill>
          <a:ln w="9525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545336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1F5F9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5087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1F5F9"/>
                </a:solidFill>
              </a:rPr>
              <a:t>Shartnoma holati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920240"/>
            <a:ext cx="9875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</a:rPr>
              <a:t>Faol yoki Yakunlangan bo'lishi kerak — Qoralama rad etiladi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23160"/>
            <a:ext cx="11430000" cy="896112"/>
          </a:xfrm>
          <a:prstGeom prst="rect">
            <a:avLst/>
          </a:prstGeom>
          <a:solidFill>
            <a:srgbClr val="1E293B"/>
          </a:solidFill>
          <a:ln w="952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2551176"/>
            <a:ext cx="594360" cy="594360"/>
          </a:xfrm>
          <a:prstGeom prst="rect">
            <a:avLst/>
          </a:prstGeom>
          <a:solidFill>
            <a:srgbClr val="A78BFA"/>
          </a:solidFill>
          <a:ln w="952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2551176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1F5F9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5146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1F5F9"/>
                </a:solidFill>
              </a:rPr>
              <a:t>Bosqich sharti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926080"/>
            <a:ext cx="9875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</a:rPr>
              <a:t>after_activation: shartnoma faolmi? | after_full_delivery: tovar kelganmi?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429000"/>
            <a:ext cx="11430000" cy="896112"/>
          </a:xfrm>
          <a:prstGeom prst="rect">
            <a:avLst/>
          </a:prstGeom>
          <a:solidFill>
            <a:srgbClr val="1E293B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02920" y="3557016"/>
            <a:ext cx="594360" cy="594360"/>
          </a:xfrm>
          <a:prstGeom prst="rect">
            <a:avLst/>
          </a:prstGeom>
          <a:solidFill>
            <a:srgbClr val="22C55E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3557016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1F5F9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5204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1F5F9"/>
                </a:solidFill>
              </a:rPr>
              <a:t>Oldingi bosqich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931920"/>
            <a:ext cx="9875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</a:rPr>
              <a:t>Avans to'liq to'lanmaguncha Yetkazib berish bosqichi bloklanadi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434840"/>
            <a:ext cx="11430000" cy="896112"/>
          </a:xfrm>
          <a:prstGeom prst="rect">
            <a:avLst/>
          </a:prstGeom>
          <a:solidFill>
            <a:srgbClr val="1E293B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2920" y="4562856"/>
            <a:ext cx="594360" cy="594360"/>
          </a:xfrm>
          <a:prstGeom prst="rect">
            <a:avLst/>
          </a:prstGeom>
          <a:solidFill>
            <a:srgbClr val="F59E0B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4562856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1F5F9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5262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1F5F9"/>
                </a:solidFill>
              </a:rPr>
              <a:t>Summa chegarasi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937760"/>
            <a:ext cx="9875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</a:rPr>
              <a:t>Summa &gt; 0 va bosqich qoldig'idan oshmasin (bccomp bilan — float emas)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440680"/>
            <a:ext cx="11430000" cy="896112"/>
          </a:xfrm>
          <a:prstGeom prst="rect">
            <a:avLst/>
          </a:prstGeom>
          <a:solidFill>
            <a:srgbClr val="1E293B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02920" y="5568696"/>
            <a:ext cx="594360" cy="594360"/>
          </a:xfrm>
          <a:prstGeom prst="rect">
            <a:avLst/>
          </a:prstGeom>
          <a:solidFill>
            <a:srgbClr val="F87171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" y="5568696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1F5F9"/>
                </a:solidFill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55321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1F5F9"/>
                </a:solidFill>
              </a:rPr>
              <a:t>Smeta qoldig'i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943600"/>
            <a:ext cx="9875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</a:rPr>
              <a:t>To'lov sanasi moliyaviy yilga mos + byudjet qoldig'i yetarli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B82F6"/>
                </a:solidFill>
              </a:rPr>
              <a:t>RUXSATLAR (SERVER-SIDE POLICY)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1F5F9"/>
                </a:solidFill>
              </a:rPr>
              <a:t>Tugmani yashirish emas — serverda tekshirish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63040"/>
            <a:ext cx="11430000" cy="1143000"/>
          </a:xfrm>
          <a:prstGeom prst="rect">
            <a:avLst/>
          </a:prstGeom>
          <a:solidFill>
            <a:srgbClr val="1E293B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1F5F9"/>
                </a:solidFill>
              </a:rPr>
              <a:t>🛡️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572768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7171"/>
                </a:solidFill>
              </a:rPr>
              <a:t>Super Admin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208483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admin@admin.com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08483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</a:rPr>
              <a:t>Parol: admin123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600200"/>
            <a:ext cx="722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1F5F9"/>
                </a:solidFill>
              </a:rPr>
              <a:t>Hamma narsa: shartnoma, jarima, to'lov, foydalanuvchilar boshqaruvi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743200"/>
            <a:ext cx="11430000" cy="1143000"/>
          </a:xfrm>
          <a:prstGeom prst="rect">
            <a:avLst/>
          </a:prstGeom>
          <a:solidFill>
            <a:srgbClr val="1E293B"/>
          </a:solidFill>
          <a:ln w="952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301752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1F5F9"/>
                </a:solidFill>
              </a:rPr>
              <a:t>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852928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A78BFA"/>
                </a:solidFill>
              </a:rPr>
              <a:t>Boshliq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3649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boshliq@demo.test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336499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</a:rPr>
              <a:t>Parol: password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880360"/>
            <a:ext cx="722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1F5F9"/>
                </a:solidFill>
              </a:rPr>
              <a:t>Jarimani tasdiqlash/rad etish · Foydalanuvchilar CRUD · Shartnomalarni ko'rish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023360"/>
            <a:ext cx="11430000" cy="1143000"/>
          </a:xfrm>
          <a:prstGeom prst="rect">
            <a:avLst/>
          </a:prstGeom>
          <a:solidFill>
            <a:srgbClr val="1E293B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429768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1F5F9"/>
                </a:solidFill>
              </a:rPr>
              <a:t>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133088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</a:rPr>
              <a:t>Buxgalter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64515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buxgalter@demo.test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6451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</a:rPr>
              <a:t>Parol: password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4160520"/>
            <a:ext cx="722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1F5F9"/>
                </a:solidFill>
              </a:rPr>
              <a:t>To'lov kiritish · Bekor qilish (void) · Smeta nazorati · To'lov reestri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303519"/>
            <a:ext cx="11430000" cy="1143000"/>
          </a:xfrm>
          <a:prstGeom prst="rect">
            <a:avLst/>
          </a:prstGeom>
          <a:solidFill>
            <a:srgbClr val="1E293B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5577839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1F5F9"/>
                </a:solidFill>
              </a:rPr>
              <a:t>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5413247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9E0B"/>
                </a:solidFill>
              </a:rPr>
              <a:t>Ijrochi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5925311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ijrochi@demo.test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5925311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</a:rPr>
              <a:t>Parol: password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5440679"/>
            <a:ext cx="722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1F5F9"/>
                </a:solidFill>
              </a:rPr>
              <a:t>Faqat o'z shartnomalarini yaratish · Partiya kiritish · Jarima so'rash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B82F6"/>
                </a:solidFill>
              </a:rPr>
              <a:t>TEXNIK QARORLAR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1F5F9"/>
                </a:solidFill>
              </a:rPr>
              <a:t>Muammolar va yechimlar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17320"/>
            <a:ext cx="2788920" cy="5166360"/>
          </a:xfrm>
          <a:prstGeom prst="rect">
            <a:avLst/>
          </a:prstGeom>
          <a:solidFill>
            <a:srgbClr val="1E293B"/>
          </a:solidFill>
          <a:ln w="9525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1F5F9"/>
                </a:solidFill>
              </a:rPr>
              <a:t>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</a:rPr>
              <a:t>Float yo'q — bcmath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063240"/>
            <a:ext cx="2423160" cy="914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24231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sum() SQL float qaytaradi.
pluck()+bcadd() ishlatildi.
Yaxlitlash: +0.005→floor
(half-up qoidasi).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417320"/>
            <a:ext cx="2788920" cy="5166360"/>
          </a:xfrm>
          <a:prstGeom prst="rect">
            <a:avLst/>
          </a:prstGeom>
          <a:solidFill>
            <a:srgbClr val="1E293B"/>
          </a:solidFill>
          <a:ln w="952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20440" y="160020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1F5F9"/>
                </a:solidFill>
              </a:rPr>
              <a:t>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2331720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78BFA"/>
                </a:solidFill>
              </a:rPr>
              <a:t>Concurrent payment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0440" y="3063240"/>
            <a:ext cx="2423160" cy="914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20440" y="3200400"/>
            <a:ext cx="24231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DB::transaction +
lockForUpdate() ikkalasida.
Ikki buxgalter, faqat
1 to'lov o'tadi.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417320"/>
            <a:ext cx="2788920" cy="5166360"/>
          </a:xfrm>
          <a:prstGeom prst="rect">
            <a:avLst/>
          </a:prstGeom>
          <a:solidFill>
            <a:srgbClr val="1E293B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92240" y="160020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1F5F9"/>
                </a:solidFill>
              </a:rPr>
              <a:t>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331720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Carbon mutation bug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3063240"/>
            <a:ext cx="2423160" cy="914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3200400"/>
            <a:ext cx="24231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addDays() original ob'ektni
mutate qiladi — ikkinchi
chaqiruvda noto'g'ri sana.
-&gt;copy()-&gt;addDays() fix.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81160" y="1417320"/>
            <a:ext cx="2788920" cy="5166360"/>
          </a:xfrm>
          <a:prstGeom prst="rect">
            <a:avLst/>
          </a:prstGeom>
          <a:solidFill>
            <a:srgbClr val="1E293B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464040" y="160020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1F5F9"/>
                </a:solidFill>
              </a:rPr>
              <a:t>🗂️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331720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Reestr o'zgarmasligi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64040" y="3063240"/>
            <a:ext cx="2423160" cy="914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464040" y="3200400"/>
            <a:ext cx="24231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To'lov o'chirilmaydi.
is_voided=true+void_reason.
Holat reestrdan
qayta hisoblanadi.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B82F6"/>
                </a:solidFill>
              </a:rPr>
              <a:t>SIFAT NAZORATI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1F5F9"/>
                </a:solidFill>
              </a:rPr>
              <a:t>Testlar va natijalar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17320"/>
            <a:ext cx="2788920" cy="17830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00200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60A5FA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78608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Jami test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7560" y="1417320"/>
            <a:ext cx="2788920" cy="17830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337560" y="1600200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60A5FA"/>
                </a:solidFill>
              </a:rPr>
              <a:t>110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2578608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Assertion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2788920" cy="17830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09360" y="1600200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60A5FA"/>
                </a:solidFill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578608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Xato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81160" y="1417320"/>
            <a:ext cx="2788920" cy="17830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81160" y="1600200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60A5FA"/>
                </a:solidFill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2578608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Bug tuzatildi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429000"/>
            <a:ext cx="2788920" cy="3200400"/>
          </a:xfrm>
          <a:prstGeom prst="rect">
            <a:avLst/>
          </a:prstGeom>
          <a:solidFill>
            <a:srgbClr val="1E293B"/>
          </a:solidFill>
          <a:ln w="9525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3566160"/>
            <a:ext cx="594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1F5F9"/>
                </a:solidFill>
              </a:rPr>
              <a:t>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56616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3B82F6"/>
                </a:solidFill>
              </a:rPr>
              <a:t>7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1F5F9"/>
                </a:solidFill>
              </a:rPr>
              <a:t>PenaltyCalculatorTest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663440"/>
            <a:ext cx="2423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</a:rPr>
              <a:t>Misol 1/2, limit, yaxlitlash, Carbon +1 kun qoidasi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37560" y="3429000"/>
            <a:ext cx="2788920" cy="3200400"/>
          </a:xfrm>
          <a:prstGeom prst="rect">
            <a:avLst/>
          </a:prstGeom>
          <a:solidFill>
            <a:srgbClr val="1E293B"/>
          </a:solidFill>
          <a:ln w="952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520440" y="3566160"/>
            <a:ext cx="594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1F5F9"/>
                </a:solidFill>
              </a:rPr>
              <a:t>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56616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A78BFA"/>
                </a:solidFill>
              </a:rPr>
              <a:t>10 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416052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1F5F9"/>
                </a:solidFill>
              </a:rPr>
              <a:t>PaymentServiceTest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4663440"/>
            <a:ext cx="2423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</a:rPr>
              <a:t>5 tekshiruv, void, partial, concurrent, double-void prevention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3429000"/>
            <a:ext cx="2788920" cy="3200400"/>
          </a:xfrm>
          <a:prstGeom prst="rect">
            <a:avLst/>
          </a:prstGeom>
          <a:solidFill>
            <a:srgbClr val="1E293B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3566160"/>
            <a:ext cx="594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1F5F9"/>
                </a:solidFill>
              </a:rPr>
              <a:t>🛡️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56616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22C55E"/>
                </a:solidFill>
              </a:rPr>
              <a:t>5 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16052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1F5F9"/>
                </a:solidFill>
              </a:rPr>
              <a:t>ContractPolicyTest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663440"/>
            <a:ext cx="2423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</a:rPr>
              <a:t>Rol bo'yicha ruxsatlar, ijrochi faqat o'z shartnomasi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281160" y="3429000"/>
            <a:ext cx="2788920" cy="3200400"/>
          </a:xfrm>
          <a:prstGeom prst="rect">
            <a:avLst/>
          </a:prstGeom>
          <a:solidFill>
            <a:srgbClr val="1E293B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464040" y="3566160"/>
            <a:ext cx="594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1F5F9"/>
                </a:solidFill>
              </a:rPr>
              <a:t>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64040" y="356616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F59E0B"/>
                </a:solidFill>
              </a:rPr>
              <a:t>1 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64040" y="416052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1F5F9"/>
                </a:solidFill>
              </a:rPr>
              <a:t>ConcurrentPaymentTest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4040" y="4663440"/>
            <a:ext cx="2423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</a:rPr>
              <a:t>Bir vaqtda 2 to'lov → faqat biri o'tadi, lock ishlaydi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B82F6"/>
                </a:solidFill>
              </a:rPr>
              <a:t>XULOSA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1F5F9"/>
                </a:solidFill>
              </a:rPr>
              <a:t>Barcha talablar bajarildi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C55E"/>
                </a:solidFill>
              </a:rPr>
              <a:t>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43560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1F5F9"/>
                </a:solidFill>
              </a:rPr>
              <a:t>Shartnoma CRUD — Qoralama → Faol → Yakunlangan, tovar qatorlari, faollashtirish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52243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C55E"/>
                </a:solidFill>
              </a:rPr>
              <a:t>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970531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1F5F9"/>
                </a:solidFill>
              </a:rPr>
              <a:t>Partiya yetkazish — ortiqcha kiritilsa aniq xato, auto-complete, DB transaction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87168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C55E"/>
                </a:solidFill>
              </a:rPr>
              <a:t>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05456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1F5F9"/>
                </a:solidFill>
              </a:rPr>
              <a:t>Jarima hisoblash — Misol 1: 37.50 ✓   Misol 2: 35.00 ✓   50% limit 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022091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C55E"/>
                </a:solidFill>
              </a:rPr>
              <a:t>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040379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1F5F9"/>
                </a:solidFill>
              </a:rPr>
              <a:t>Boshliq jarimani tasdiqlaydi / rad etadi, summani o'zgartira oladi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557015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C55E"/>
                </a:solidFill>
              </a:rPr>
              <a:t>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575303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1F5F9"/>
                </a:solidFill>
              </a:rPr>
              <a:t>Buxgalteriya — 5 tekshiruv, smeta, bosqich holati reestrdan, to'lov reestri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091939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C55E"/>
                </a:solidFill>
              </a:rPr>
              <a:t>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110227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1F5F9"/>
                </a:solidFill>
              </a:rPr>
              <a:t>Void pattern — is_voided=true · yozuv saqlanadi · holat qayta hisoblanadi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626864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C55E"/>
                </a:solidFill>
              </a:rPr>
              <a:t>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645151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1F5F9"/>
                </a:solidFill>
              </a:rPr>
              <a:t>Server-side policy — ijrochi boshqa shartnomani ID bilan ham ochib bo'lmaydi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161788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C55E"/>
                </a:solidFill>
              </a:rPr>
              <a:t>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180075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1F5F9"/>
                </a:solidFill>
              </a:rPr>
              <a:t>lockForUpdate() — concurrent payment testi bilan isbotlangan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696712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C55E"/>
                </a:solidFill>
              </a:rPr>
              <a:t>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714999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1F5F9"/>
                </a:solidFill>
              </a:rPr>
              <a:t>bcmath — float yo'q, sum() o'rniga pluck+bcadd, half-up yaxlitlash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231636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C55E"/>
                </a:solidFill>
              </a:rPr>
              <a:t>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6249923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 dirty="0">
                <a:solidFill>
                  <a:srgbClr val="60A5FA"/>
                </a:solidFill>
              </a:rPr>
              <a:t>48 test · README (5 </a:t>
            </a:r>
            <a:r>
              <a:rPr sz="1250" b="0" i="0" dirty="0" err="1">
                <a:solidFill>
                  <a:srgbClr val="60A5FA"/>
                </a:solidFill>
              </a:rPr>
              <a:t>qadam</a:t>
            </a:r>
            <a:r>
              <a:rPr sz="1250" b="0" i="0" dirty="0">
                <a:solidFill>
                  <a:srgbClr val="60A5FA"/>
                </a:solidFill>
              </a:rPr>
              <a:t>) · </a:t>
            </a:r>
            <a:r>
              <a:rPr sz="1250" b="0" i="0" dirty="0" err="1">
                <a:solidFill>
                  <a:srgbClr val="60A5FA"/>
                </a:solidFill>
              </a:rPr>
              <a:t>ASSUMPTIONS.md</a:t>
            </a:r>
            <a:r>
              <a:rPr sz="1250" b="0" i="0" dirty="0">
                <a:solidFill>
                  <a:srgbClr val="60A5FA"/>
                </a:solidFill>
              </a:rPr>
              <a:t> (10 </a:t>
            </a:r>
            <a:r>
              <a:rPr sz="1250" b="0" i="0" dirty="0" err="1">
                <a:solidFill>
                  <a:srgbClr val="60A5FA"/>
                </a:solidFill>
              </a:rPr>
              <a:t>qaror</a:t>
            </a:r>
            <a:r>
              <a:rPr sz="1250" b="0" i="0" dirty="0">
                <a:solidFill>
                  <a:srgbClr val="60A5FA"/>
                </a:solidFill>
              </a:rPr>
              <a:t>) · 4 </a:t>
            </a:r>
            <a:r>
              <a:rPr sz="1250" b="0" i="0" dirty="0" err="1">
                <a:solidFill>
                  <a:srgbClr val="60A5FA"/>
                </a:solidFill>
              </a:rPr>
              <a:t>rol</a:t>
            </a:r>
            <a:r>
              <a:rPr sz="1250" b="0" i="0" dirty="0">
                <a:solidFill>
                  <a:srgbClr val="60A5FA"/>
                </a:solidFill>
              </a:rPr>
              <a:t> + Super Admin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25</TotalTime>
  <Words>874</Words>
  <Application>Microsoft Macintosh PowerPoint</Application>
  <PresentationFormat>Custom</PresentationFormat>
  <Paragraphs>186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Century Gothic</vt:lpstr>
      <vt:lpstr>Wingdings 3</vt:lpstr>
      <vt:lpstr>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macstore</cp:lastModifiedBy>
  <cp:revision>2</cp:revision>
  <dcterms:created xsi:type="dcterms:W3CDTF">2013-01-27T09:14:16Z</dcterms:created>
  <dcterms:modified xsi:type="dcterms:W3CDTF">2026-10-26T06:27:26Z</dcterms:modified>
  <cp:category/>
</cp:coreProperties>
</file>