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822960"/>
            <a:ext cx="4846320" cy="384048"/>
          </a:xfrm>
          <a:prstGeom prst="rect">
            <a:avLst/>
          </a:prstGeom>
          <a:solidFill>
            <a:srgbClr val="3B82F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8412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</a:rPr>
              <a:t>LARAVEL · BLADE · SQLITE · BCMATH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60A5FA"/>
                </a:solidFill>
              </a:rPr>
              <a:t>Yetkazib berish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A78BFA"/>
                </a:solidFill>
              </a:rPr>
              <a:t>Shartnomasi Tizimi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Davlat tashkiloti uchun tovar sotib olish · yetkazish · jarima · buxgalteriya boshqaruvi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251960"/>
            <a:ext cx="1463040" cy="365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7939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</a:rPr>
              <a:t>PHP 8.3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4251960"/>
            <a:ext cx="1463040" cy="365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427939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</a:rPr>
              <a:t>Laravel 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4251960"/>
            <a:ext cx="1463040" cy="365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427939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</a:rPr>
              <a:t>SQLite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4251960"/>
            <a:ext cx="1463040" cy="365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427939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</a:rPr>
              <a:t>Tailwind CSS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4251960"/>
            <a:ext cx="1463040" cy="365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427939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</a:rPr>
              <a:t>Alpine.js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4251960"/>
            <a:ext cx="1463040" cy="365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27939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</a:rPr>
              <a:t>PHPUnit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04120" y="4251960"/>
            <a:ext cx="1463040" cy="3657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427939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4A3B8"/>
                </a:solidFill>
              </a:rPr>
              <a:t>bcmath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VAZIYAT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</a:rPr>
              <a:t>Nima qilindi?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749039" cy="5166360"/>
          </a:xfrm>
          <a:prstGeom prst="rect">
            <a:avLst/>
          </a:prstGeom>
          <a:solidFill>
            <a:srgbClr val="1E293B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</a:rP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1F5F9"/>
                </a:solidFill>
              </a:rPr>
              <a:t>Shartnoma yuritish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338328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</a:rPr>
              <a:t>Qoralama → Faol → Yakunlangan
Pullik va bonus tovar alohida
Faollashtirish tizimi
Politika: server-side ruxsatlar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3749039" cy="5166360"/>
          </a:xfrm>
          <a:prstGeom prst="rect">
            <a:avLst/>
          </a:prstGeom>
          <a:solidFill>
            <a:srgbClr val="1E293B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</a:rPr>
              <a:t>⚠️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40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1F5F9"/>
                </a:solidFill>
              </a:rPr>
              <a:t>Jarima hisoblash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2788920"/>
            <a:ext cx="3383280" cy="914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92608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</a:rPr>
              <a:t>Kechikish uchun 0.5%/kun
50% limit qoidasi
bcmath — float ishlatilmadi
Boshliq tasdiqlaydi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371600"/>
            <a:ext cx="3749039" cy="5166360"/>
          </a:xfrm>
          <a:prstGeom prst="rect">
            <a:avLst/>
          </a:prstGeom>
          <a:solidFill>
            <a:srgbClr val="1E293B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15544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1F5F9"/>
                </a:solidFill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240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1F5F9"/>
                </a:solidFill>
              </a:rPr>
              <a:t>Buxgalteriya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19" y="2788920"/>
            <a:ext cx="3383280" cy="914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292608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</a:rPr>
              <a:t>To'lov bosqichlari (30%+70%)
Smeta (byudjet) nazorati
Void pattern — reestr o'zgarmaydi
lockForUpdate() concurrent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SHARTNOMA JARAYONI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</a:rPr>
              <a:t>Holat ketma-ketligi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3657600" cy="1508760"/>
          </a:xfrm>
          <a:prstGeom prst="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</a:rP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📝 Qoralama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6771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Tahrir mumkin
Qatorlar o'zgaradi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657600" cy="1508760"/>
          </a:xfrm>
          <a:prstGeom prst="rect">
            <a:avLst/>
          </a:prstGeom>
          <a:solidFill>
            <a:srgbClr val="1E293B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087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</a:rPr>
              <a:t>#2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013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✅ Faol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6771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Qatorlar qotib qoladi
To'lov bosqichlari yaratiladi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3657600" cy="1508760"/>
          </a:xfrm>
          <a:prstGeom prst="rect">
            <a:avLst/>
          </a:prstGeom>
          <a:solidFill>
            <a:srgbClr val="1E293B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5087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</a:rPr>
              <a:t>#3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8013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🏁 Yakunlangan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26771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Barcha pullik tovar
yetkazilganda AVTOMATIK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54680"/>
            <a:ext cx="5760720" cy="3429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375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1F5F9"/>
                </a:solidFill>
              </a:rP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375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Faollashtirish qoidasi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931920"/>
            <a:ext cx="5303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</a:rPr>
              <a:t>Kamida 1 tovar qatori shart.
Faollashtirilgandan keyin qatorlar
o'zgartirib bo'lmaydi.
Policy bilan serverda tekshiriladi.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154680"/>
            <a:ext cx="5760720" cy="34290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3375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1F5F9"/>
                </a:solidFill>
              </a:rPr>
              <a:t>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3375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Avtomatik yakunlash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931920"/>
            <a:ext cx="5303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</a:rPr>
              <a:t>Barcha pullik tovar yetkazilganda
shartnoma o'zi Yakunlangan holatiga
o'tadi. Buxgalteriyada shart
o'z-o'zidan bajariladi.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JARIMA MODULI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1F5F9"/>
                </a:solidFill>
              </a:rPr>
              <a:t>Hisoblash formulasi va qoidalar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577840" cy="1280160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904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</a:rPr>
              <a:t>HAR KUN UCHUN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jarima  =  kelmagan_summa  ×  0.5%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5577840" cy="1280160"/>
          </a:xfrm>
          <a:prstGeom prst="rect">
            <a:avLst/>
          </a:prstGeom>
          <a:solidFill>
            <a:srgbClr val="0F172A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904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75569"/>
                </a:solidFill>
              </a:rPr>
              <a:t>LIMIT (HECH QACHON OSHMASIN)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max  =  muddat_kuni_kelmagan  ×  50%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2834640" cy="3703320"/>
          </a:xfrm>
          <a:prstGeom prst="rect">
            <a:avLst/>
          </a:prstGeom>
          <a:solidFill>
            <a:srgbClr val="1E293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906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Misol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3 kun,
hech narsa kelmagan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54880"/>
            <a:ext cx="246888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8920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37.50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926080"/>
            <a:ext cx="2834640" cy="3703320"/>
          </a:xfrm>
          <a:prstGeom prst="rect">
            <a:avLst/>
          </a:prstGeom>
          <a:solidFill>
            <a:srgbClr val="1E293B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30906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Misol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5661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600 dona 14-martda,
bugun 16-mart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4754880"/>
            <a:ext cx="246888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48920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</a:rPr>
              <a:t>35.00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926080"/>
            <a:ext cx="2834640" cy="3703320"/>
          </a:xfrm>
          <a:prstGeom prst="rect">
            <a:avLst/>
          </a:prstGeom>
          <a:solidFill>
            <a:srgbClr val="1E293B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0906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Muhim qoida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5661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Yetkazish sanasi X bo'lsa
X+1 kundan hisobga olinadi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754880"/>
            <a:ext cx="2468880" cy="914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8920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78BFA"/>
                </a:solidFill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60" y="2926080"/>
            <a:ext cx="2834640" cy="3703320"/>
          </a:xfrm>
          <a:prstGeom prst="rect">
            <a:avLst/>
          </a:prstGeom>
          <a:solidFill>
            <a:srgbClr val="1E293B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30906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Limit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5661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2500 × 50% = 1250
Hech qachon oshmasin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64040" y="4754880"/>
            <a:ext cx="2468880" cy="914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40" y="48920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</a:rPr>
              <a:t>1250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BUXGALTERIYA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1F5F9"/>
                </a:solidFill>
              </a:rPr>
              <a:t>To'lov bosqichlari va smeta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965960" cy="38404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87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Bosqich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463040"/>
            <a:ext cx="777240" cy="38404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490472"/>
            <a:ext cx="685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Foiz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463040"/>
            <a:ext cx="1234439" cy="38404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490472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Summa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463040"/>
            <a:ext cx="3520440" cy="38404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0472"/>
            <a:ext cx="3429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Shart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2240280" cy="38404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49047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Holat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20240"/>
            <a:ext cx="1965960" cy="457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75104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Avans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1920240"/>
            <a:ext cx="777240" cy="457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197510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30%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920240"/>
            <a:ext cx="1234439" cy="457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975104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750.00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1920240"/>
            <a:ext cx="3520440" cy="457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975104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Shartnoma faollashgandan keyin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920240"/>
            <a:ext cx="2240280" cy="457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97510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🟡 Rejalashtirilgan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423160"/>
            <a:ext cx="1965960" cy="457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478024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Yetkazib berish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2423160"/>
            <a:ext cx="777240" cy="457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2478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70%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2423160"/>
            <a:ext cx="1234439" cy="457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2478024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1 750.00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2423160"/>
            <a:ext cx="3520440" cy="457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2478024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Pullik tovar to'liq kelgandan keyin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2423160"/>
            <a:ext cx="2240280" cy="457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247802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🟢 To'lashga tayyor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063240"/>
            <a:ext cx="3749039" cy="34747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2461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1F5F9"/>
                </a:solidFill>
              </a:rP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886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Holat qo'lda o'zgartirilmaydi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462272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Holat har safar to'lov
reestridan qayta hisoblanadi.
Hech qachon qo'lda o'zgarmaydi.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3063240"/>
            <a:ext cx="3749039" cy="34747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6280" y="32461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1F5F9"/>
                </a:solidFill>
              </a:rPr>
              <a:t>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3886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5 tartibli tekshiruv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4462272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Birinchi xatoda to'xtaydi.
Aniq o'zbek tilida xabar beradi.
PaymentService klassida alohida.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3063240"/>
            <a:ext cx="3749039" cy="34747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19" y="32461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1F5F9"/>
                </a:solidFill>
              </a:rPr>
              <a:t>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19" y="3886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Void pattern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19" y="4462272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To'lov hech qachon o'chirilmaydi.
is_voided=true + void_reason.
Audit izi saqlanadi.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PAYMENTSERVICE — BIZNES MANTIQ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</a:rPr>
              <a:t>5 tartibli tekshiruv (birinchi xatoda to'xtaydi)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11430000" cy="896112"/>
          </a:xfrm>
          <a:prstGeom prst="rect">
            <a:avLst/>
          </a:prstGeom>
          <a:solidFill>
            <a:srgbClr val="1E293B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45336"/>
            <a:ext cx="594360" cy="594360"/>
          </a:xfrm>
          <a:prstGeom prst="rect">
            <a:avLst/>
          </a:prstGeom>
          <a:solidFill>
            <a:srgbClr val="3B82F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4533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Shartnoma holati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2024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Faol yoki Yakunlangan bo'lishi kerak — Qoralama rad etiladi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23160"/>
            <a:ext cx="11430000" cy="896112"/>
          </a:xfrm>
          <a:prstGeom prst="rect">
            <a:avLst/>
          </a:prstGeom>
          <a:solidFill>
            <a:srgbClr val="1E293B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551176"/>
            <a:ext cx="594360" cy="594360"/>
          </a:xfrm>
          <a:prstGeom prst="rect">
            <a:avLst/>
          </a:prstGeom>
          <a:solidFill>
            <a:srgbClr val="A78BFA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5117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Bosqich sharti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after_activation: shartnoma faolmi? | after_full_delivery: tovar kelganmi?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11430000" cy="896112"/>
          </a:xfrm>
          <a:prstGeom prst="rect">
            <a:avLst/>
          </a:prstGeom>
          <a:solidFill>
            <a:srgbClr val="1E293B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57016"/>
            <a:ext cx="594360" cy="594360"/>
          </a:xfrm>
          <a:prstGeom prst="rect">
            <a:avLst/>
          </a:prstGeom>
          <a:solidFill>
            <a:srgbClr val="22C55E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5701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Oldingi bosqich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3192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Avans to'liq to'lanmaguncha Yetkazib berish bosqichi bloklanadi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34840"/>
            <a:ext cx="11430000" cy="896112"/>
          </a:xfrm>
          <a:prstGeom prst="rect">
            <a:avLst/>
          </a:prstGeom>
          <a:solidFill>
            <a:srgbClr val="1E293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562856"/>
            <a:ext cx="594360" cy="59436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56285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526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Summa chegarasi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93776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Summa &gt; 0 va bosqich qoldig'idan oshmasin (bccomp bilan — float emas)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440680"/>
            <a:ext cx="11430000" cy="896112"/>
          </a:xfrm>
          <a:prstGeom prst="rect">
            <a:avLst/>
          </a:prstGeom>
          <a:solidFill>
            <a:srgbClr val="1E293B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568696"/>
            <a:ext cx="594360" cy="594360"/>
          </a:xfrm>
          <a:prstGeom prst="rect">
            <a:avLst/>
          </a:prstGeom>
          <a:solidFill>
            <a:srgbClr val="F87171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56869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1F5F9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532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Smeta qoldig'i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94360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</a:rPr>
              <a:t>To'lov sanasi moliyaviy yilga mos + byudjet qoldig'i yetarli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RUXSATLAR (SERVER-SIDE POLICY)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</a:rPr>
              <a:t>Tugmani yashirish emas — serverda tekshirish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1430000" cy="1143000"/>
          </a:xfrm>
          <a:prstGeom prst="rect">
            <a:avLst/>
          </a:prstGeom>
          <a:solidFill>
            <a:srgbClr val="1E293B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57276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7171"/>
                </a:solidFill>
              </a:rPr>
              <a:t>Super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0848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admin@admin.com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0848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Parol: admin123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722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Hamma narsa: shartnoma, jarima, to'lov, foydalanuvchilar boshqaruvi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11430000" cy="1143000"/>
          </a:xfrm>
          <a:prstGeom prst="rect">
            <a:avLst/>
          </a:prstGeom>
          <a:solidFill>
            <a:srgbClr val="1E293B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5292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Boshliq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3649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boshliq@demo.test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3649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Parol: password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880360"/>
            <a:ext cx="722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Jarimani tasdiqlash/rad etish · Foydalanuvchilar CRUD · Shartnomalarni ko'rish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11430000" cy="1143000"/>
          </a:xfrm>
          <a:prstGeom prst="rect">
            <a:avLst/>
          </a:prstGeom>
          <a:solidFill>
            <a:srgbClr val="1E293B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976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133088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Buxgalter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451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buxgalter@demo.test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645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Parol: password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160520"/>
            <a:ext cx="722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To'lov kiritish · Bekor qilish (void) · Smeta nazorati · To'lov reestri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03519"/>
            <a:ext cx="11430000" cy="1143000"/>
          </a:xfrm>
          <a:prstGeom prst="rect">
            <a:avLst/>
          </a:prstGeom>
          <a:solidFill>
            <a:srgbClr val="1E293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57783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413247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Ijrochi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92531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ijrochi@demo.test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92531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Parol: password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440679"/>
            <a:ext cx="7223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Faqat o'z shartnomalarini yaratish · Partiya kiritish · Jarima so'rash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TEXNIK QARORLAR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1F5F9"/>
                </a:solidFill>
              </a:rPr>
              <a:t>Muammolar va yechimlar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2788920" cy="5166360"/>
          </a:xfrm>
          <a:prstGeom prst="rect">
            <a:avLst/>
          </a:prstGeom>
          <a:solidFill>
            <a:srgbClr val="1E293B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Float yo'q — bcmath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63240"/>
            <a:ext cx="2423160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sum() SQL float qaytaradi.
pluck()+bcadd() ishlatildi.
Yaxlitlash: +0.005→floor
(half-up qoidasi).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17320"/>
            <a:ext cx="2788920" cy="5166360"/>
          </a:xfrm>
          <a:prstGeom prst="rect">
            <a:avLst/>
          </a:prstGeom>
          <a:solidFill>
            <a:srgbClr val="1E293B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6002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3317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Concurrent payment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3063240"/>
            <a:ext cx="2423160" cy="914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320040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DB::transaction +
lockForUpdate() ikkalasida.
Ikki buxgalter, faqat
1 to'lov o'tadi.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2788920" cy="5166360"/>
          </a:xfrm>
          <a:prstGeom prst="rect">
            <a:avLst/>
          </a:prstGeom>
          <a:solidFill>
            <a:srgbClr val="1E293B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002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317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Carbon mutation bug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063240"/>
            <a:ext cx="2423160" cy="914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20040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addDays() original ob'ektni
mutate qiladi — ikkinchi
chaqiruvda noto'g'ri sana.
-&gt;copy()-&gt;addDays() fix.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1417320"/>
            <a:ext cx="2788920" cy="5166360"/>
          </a:xfrm>
          <a:prstGeom prst="rect">
            <a:avLst/>
          </a:prstGeom>
          <a:solidFill>
            <a:srgbClr val="1E293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16002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</a:rPr>
              <a:t>🗂️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3317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Reestr o'zgarmasligi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4040" y="3063240"/>
            <a:ext cx="242316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320040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To'lov o'chirilmaydi.
is_voided=true+void_reason.
Holat reestrdan
qayta hisoblanadi.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SIFAT NAZORATI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1F5F9"/>
                </a:solidFill>
              </a:rPr>
              <a:t>Testlar va natijalar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2788920" cy="17830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60A5FA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7860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Jami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417320"/>
            <a:ext cx="2788920" cy="17830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60020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60A5FA"/>
                </a:solidFill>
              </a:rPr>
              <a:t>110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57860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Assertion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2788920" cy="17830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0020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60A5FA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7860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Xato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417320"/>
            <a:ext cx="2788920" cy="17830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160020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60A5FA"/>
                </a:solidFill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57860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Bug tuzatildi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29000"/>
            <a:ext cx="2788920" cy="3200400"/>
          </a:xfrm>
          <a:prstGeom prst="rect">
            <a:avLst/>
          </a:prstGeom>
          <a:solidFill>
            <a:srgbClr val="1E293B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661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5F9"/>
                </a:solidFill>
              </a:rPr>
              <a:t>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3B82F6"/>
                </a:solidFill>
              </a:rPr>
              <a:t>7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PenaltyCalculatorTest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6344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Misol 1/2, limit, yaxlitlash, Carbon +1 kun qoidasi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429000"/>
            <a:ext cx="2788920" cy="3200400"/>
          </a:xfrm>
          <a:prstGeom prst="rect">
            <a:avLst/>
          </a:prstGeom>
          <a:solidFill>
            <a:srgbClr val="1E293B"/>
          </a:solidFill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35661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5F9"/>
                </a:solidFill>
              </a:rPr>
              <a:t>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A78BFA"/>
                </a:solidFill>
              </a:rPr>
              <a:t>10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1605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PaymentServiceTest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66344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5 tekshiruv, void, partial, concurrent, double-void prevention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429000"/>
            <a:ext cx="2788920" cy="3200400"/>
          </a:xfrm>
          <a:prstGeom prst="rect">
            <a:avLst/>
          </a:prstGeom>
          <a:solidFill>
            <a:srgbClr val="1E293B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5661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5F9"/>
                </a:solidFill>
              </a:rPr>
              <a:t>🛡️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22C55E"/>
                </a:solidFill>
              </a:rPr>
              <a:t>5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1605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ContractPolicyTest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66344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Rol bo'yicha ruxsatlar, ijrochi faqat o'z shartnomasi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3429000"/>
            <a:ext cx="2788920" cy="3200400"/>
          </a:xfrm>
          <a:prstGeom prst="rect">
            <a:avLst/>
          </a:prstGeom>
          <a:solidFill>
            <a:srgbClr val="1E293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64040" y="35661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5F9"/>
                </a:solidFill>
              </a:rPr>
              <a:t>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35661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59E0B"/>
                </a:solidFill>
              </a:rPr>
              <a:t>1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41605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1F5F9"/>
                </a:solidFill>
              </a:rPr>
              <a:t>ConcurrentPaymentTest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466344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Bir vaqtda 2 to'lov → faqat biri o'tadi, lock ishlaydi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XULOSA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1F5F9"/>
                </a:solidFill>
              </a:rPr>
              <a:t>Barcha talablar bajarildi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3560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</a:rPr>
              <a:t>Shartnoma CRUD — Qoralama → Faol → Yakunlangan, tovar qatorlari, faollashtirish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2243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70531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</a:rPr>
              <a:t>Partiya yetkazish — ortiqcha kiritilsa aniq xato, auto-complete, DB transaction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87168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0545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</a:rPr>
              <a:t>Jarima hisoblash — Misol 1: 37.50 ✓   Misol 2: 35.00 ✓   50% limit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2091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40379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</a:rPr>
              <a:t>Boshliq jarimani tasdiqlaydi / rad etadi, summani o'zgartira oladi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57015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75303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</a:rPr>
              <a:t>Buxgalteriya — 5 tekshiruv, smeta, bosqich holati reestrdan, to'lov reestri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91939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10227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</a:rPr>
              <a:t>Void pattern — is_voided=true · yozuv saqlanadi · holat qayta hisoblanadi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26864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45151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</a:rPr>
              <a:t>Server-side policy — ijrochi boshqa shartnomani ID bilan ham ochib bo'lmaydi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61788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180075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</a:rPr>
              <a:t>lockForUpdate() — concurrent payment testi bilan isbotlangan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96712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714999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1F5F9"/>
                </a:solidFill>
              </a:rPr>
              <a:t>bcmath — float yo'q, sum() o'rniga pluck+bcadd, half-up yaxlitlash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31636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6249923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0A5FA"/>
                </a:solidFill>
              </a:rPr>
              <a:t>48 test · README (5 qadam) · ASSUMPTIONS.md (10 qaror) · 4 rol + Super Admin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